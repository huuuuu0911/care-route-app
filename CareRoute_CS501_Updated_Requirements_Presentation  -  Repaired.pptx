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/>
    <p:restoredTop sz="94610"/>
  </p:normalViewPr>
  <p:slideViewPr>
    <p:cSldViewPr snapToGrid="0" snapToObjects="1">
      <p:cViewPr>
        <p:scale>
          <a:sx n="94" d="100"/>
          <a:sy n="94" d="100"/>
        </p:scale>
        <p:origin x="127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2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30F1-2702-25CB-0388-388DBD605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8629F-7C39-CF09-24D5-8B9BD0E1C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59F02-98C2-CEEA-7559-021231F01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B6117-FCDA-A68D-7FE1-BA1578704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66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77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CareRoute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EF"/>
                </a:solidFill>
              </a:rPr>
              <a:t>Update 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1792" y="17556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Architecture · Testing · GitHub Updates · AI Usage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1792" y="233172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Kotlin + Jetpack Compose · MVVM · Room/DataStore · Firebase · Gemini · Google Maps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" y="3063240"/>
            <a:ext cx="4434840" cy="0"/>
          </a:xfrm>
          <a:prstGeom prst="line">
            <a:avLst/>
          </a:prstGeom>
          <a:noFill/>
          <a:ln w="15240">
            <a:solidFill>
              <a:srgbClr val="CED9E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5"/>
          <p:cNvSpPr/>
          <p:nvPr/>
        </p:nvSpPr>
        <p:spPr>
          <a:xfrm>
            <a:off x="621792" y="3273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CS501 Final Project Update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35478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Zhi Gao · Jiahao Hu · Wenhao Wang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37960" y="658368"/>
            <a:ext cx="4983480" cy="534924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 dirty="0"/>
          </a:p>
        </p:txBody>
      </p:sp>
      <p:pic>
        <p:nvPicPr>
          <p:cNvPr id="11" name="Image 1" descr="/mnt/data/extracted_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991740"/>
            <a:ext cx="1325880" cy="27439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9712" y="37947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Home</a:t>
            </a:r>
            <a:endParaRPr lang="en-US" sz="850" dirty="0"/>
          </a:p>
        </p:txBody>
      </p:sp>
      <p:pic>
        <p:nvPicPr>
          <p:cNvPr id="13" name="Image 2" descr="/mnt/data/extracted_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851401"/>
            <a:ext cx="1417320" cy="29332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38862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3D Body</a:t>
            </a:r>
            <a:endParaRPr lang="en-US" sz="850" dirty="0"/>
          </a:p>
        </p:txBody>
      </p:sp>
      <p:pic>
        <p:nvPicPr>
          <p:cNvPr id="15" name="Image 3" descr="/mnt/data/138241bd2930d39f5b217cf7b3b40f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503" y="896112"/>
            <a:ext cx="1271330" cy="2834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65792" y="376732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Map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839712" y="4439659"/>
            <a:ext cx="4457700" cy="1401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• Symptom support, not medical diagnosis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• Saved history for future visits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B5563"/>
                </a:solidFill>
              </a:rPr>
              <a:t>• Nearby care search connected to assessment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5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title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893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41248" y="2162555"/>
            <a:ext cx="384048" cy="38404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841248" y="223570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53312" y="2107691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Architecture diagram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3312" y="239115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MVVM layers, flows, dependencies, database schemas, and navigation graph.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9704" y="2162555"/>
            <a:ext cx="384048" cy="38404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4489704" y="223570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01768" y="2107691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Debugging &amp; testing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01768" y="239115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Build checks, emulator/manual paths, API fallback checks, database and permission tests.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38160" y="2162555"/>
            <a:ext cx="384048" cy="384048"/>
          </a:xfrm>
          <a:prstGeom prst="ellipse">
            <a:avLst/>
          </a:prstGeom>
          <a:solidFill>
            <a:srgbClr val="7559F3"/>
          </a:solidFill>
          <a:ln w="12700">
            <a:solidFill>
              <a:srgbClr val="7559F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8138160" y="2235707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50224" y="2107691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Team workflow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50224" y="2391155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Clear ownership from GitHub history and integration handoffs.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670048" y="4018787"/>
            <a:ext cx="384048" cy="384048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5"/>
          <p:cNvSpPr/>
          <p:nvPr/>
        </p:nvSpPr>
        <p:spPr>
          <a:xfrm>
            <a:off x="2670048" y="4091939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72968" y="3963923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GitHub repository updates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72968" y="4293107"/>
            <a:ext cx="2854100" cy="84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README/docs structure, feature status, testing plan, repo organization, code quality.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20840" y="4018787"/>
            <a:ext cx="384048" cy="384048"/>
          </a:xfrm>
          <a:prstGeom prst="ellipse">
            <a:avLst/>
          </a:prstGeom>
          <a:solidFill>
            <a:srgbClr val="EF6C6C"/>
          </a:solidFill>
          <a:ln w="12700">
            <a:solidFill>
              <a:srgbClr val="EF6C6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19"/>
          <p:cNvSpPr/>
          <p:nvPr/>
        </p:nvSpPr>
        <p:spPr>
          <a:xfrm>
            <a:off x="6720840" y="4091939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223760" y="3963923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AI usage statement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23760" y="4313739"/>
            <a:ext cx="27657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Tools used, example prompts, helpfulness/limitations, corrections, and human understanding.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3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requirements map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Diagram: MVVM + Dependencies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207008"/>
            <a:ext cx="649224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960120" y="1508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MVVM layers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874520"/>
            <a:ext cx="1417320" cy="420624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UI Layer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06040" y="19476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Home, Body3D, Detail, Follow-up, Assessment, Map, History, Settings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73352" y="2340864"/>
            <a:ext cx="0" cy="393192"/>
          </a:xfrm>
          <a:prstGeom prst="line">
            <a:avLst/>
          </a:prstGeom>
          <a:noFill/>
          <a:ln w="13970">
            <a:solidFill>
              <a:srgbClr val="B7C3D7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960120" y="2807208"/>
            <a:ext cx="1417320" cy="420624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ViewModel Layer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06040" y="28803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CareRouteViewModel + AuthViewModel own state, validation, and coroutine launch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73352" y="3273552"/>
            <a:ext cx="0" cy="393192"/>
          </a:xfrm>
          <a:prstGeom prst="line">
            <a:avLst/>
          </a:prstGeom>
          <a:noFill/>
          <a:ln w="13970">
            <a:solidFill>
              <a:srgbClr val="B7C3D7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0"/>
          <p:cNvSpPr/>
          <p:nvPr/>
        </p:nvSpPr>
        <p:spPr>
          <a:xfrm>
            <a:off x="960120" y="3739896"/>
            <a:ext cx="1417320" cy="420624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Repository Layer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38130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GeminiRepository · RemoteFamilyRepository · preferences repository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73352" y="4206240"/>
            <a:ext cx="0" cy="393192"/>
          </a:xfrm>
          <a:prstGeom prst="line">
            <a:avLst/>
          </a:prstGeom>
          <a:noFill/>
          <a:ln w="13970">
            <a:solidFill>
              <a:srgbClr val="B7C3D7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3"/>
          <p:cNvSpPr/>
          <p:nvPr/>
        </p:nvSpPr>
        <p:spPr>
          <a:xfrm>
            <a:off x="960120" y="4672584"/>
            <a:ext cx="1417320" cy="420624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/ Service Layer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06040" y="47457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Room</a:t>
            </a:r>
            <a:r>
              <a:rPr lang="zh-CN" altLang="en-US" sz="1050" dirty="0">
                <a:solidFill>
                  <a:srgbClr val="667085"/>
                </a:solidFill>
              </a:rPr>
              <a:t> </a:t>
            </a:r>
            <a:r>
              <a:rPr lang="en-US" altLang="zh-CN" sz="1050" dirty="0">
                <a:solidFill>
                  <a:srgbClr val="667085"/>
                </a:solidFill>
              </a:rPr>
              <a:t>·</a:t>
            </a:r>
            <a:r>
              <a:rPr lang="zh-CN" altLang="en-US" sz="1050" dirty="0">
                <a:solidFill>
                  <a:srgbClr val="667085"/>
                </a:solidFill>
              </a:rPr>
              <a:t> </a:t>
            </a:r>
            <a:r>
              <a:rPr lang="en-US" sz="1050" dirty="0" err="1">
                <a:solidFill>
                  <a:srgbClr val="667085"/>
                </a:solidFill>
              </a:rPr>
              <a:t>DataStore</a:t>
            </a:r>
            <a:r>
              <a:rPr lang="en-US" sz="1050" dirty="0">
                <a:solidFill>
                  <a:srgbClr val="667085"/>
                </a:solidFill>
              </a:rPr>
              <a:t> · Firebase Auth/Firestore · Retrofit/Gemini · Maps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516368" y="1207008"/>
            <a:ext cx="4069080" cy="48006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Text 16"/>
          <p:cNvSpPr/>
          <p:nvPr/>
        </p:nvSpPr>
        <p:spPr>
          <a:xfrm>
            <a:off x="7882128" y="1508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Key dependencies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82128" y="1920240"/>
            <a:ext cx="182880" cy="1828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8156448" y="189280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Jetpack Compose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156448" y="21396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UI rendering, recomposition, Material-style components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882128" y="2633472"/>
            <a:ext cx="182880" cy="182880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1"/>
          <p:cNvSpPr/>
          <p:nvPr/>
        </p:nvSpPr>
        <p:spPr>
          <a:xfrm>
            <a:off x="8156448" y="260604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Room + DataStore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156448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local schema, history archive, settings preference flow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882128" y="3346704"/>
            <a:ext cx="182880" cy="182880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4"/>
          <p:cNvSpPr/>
          <p:nvPr/>
        </p:nvSpPr>
        <p:spPr>
          <a:xfrm>
            <a:off x="8156448" y="331927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Firebase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156448" y="3566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auth, remote family data, cloud sync direction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882128" y="4059936"/>
            <a:ext cx="182880" cy="182880"/>
          </a:xfrm>
          <a:prstGeom prst="ellipse">
            <a:avLst/>
          </a:prstGeom>
          <a:solidFill>
            <a:srgbClr val="7559F3"/>
          </a:solidFill>
          <a:ln w="12700">
            <a:solidFill>
              <a:srgbClr val="7559F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7"/>
          <p:cNvSpPr/>
          <p:nvPr/>
        </p:nvSpPr>
        <p:spPr>
          <a:xfrm>
            <a:off x="8156448" y="403250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Gemini + Retrofit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156448" y="42793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follow-up questions, assessment text, health tips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882128" y="4773168"/>
            <a:ext cx="182880" cy="182880"/>
          </a:xfrm>
          <a:prstGeom prst="ellipse">
            <a:avLst/>
          </a:prstGeom>
          <a:solidFill>
            <a:srgbClr val="EF6C6C"/>
          </a:solidFill>
          <a:ln w="12700">
            <a:solidFill>
              <a:srgbClr val="EF6C6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0"/>
          <p:cNvSpPr/>
          <p:nvPr/>
        </p:nvSpPr>
        <p:spPr>
          <a:xfrm>
            <a:off x="8156448" y="474573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Google Maps + SceneView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156448" y="4992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nearby care search and 3D body model interaction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077456" y="3621024"/>
            <a:ext cx="438912" cy="0"/>
          </a:xfrm>
          <a:prstGeom prst="line">
            <a:avLst/>
          </a:prstGeom>
          <a:noFill/>
          <a:ln w="1397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3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4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Diagram: State Flow + Navigation Flow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User actions move through ViewModel and persistence, then Compose recomposes; route arguments keep the symptom flow connected.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58368" y="12344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 dirty="0"/>
          </a:p>
        </p:txBody>
      </p:sp>
      <p:sp>
        <p:nvSpPr>
          <p:cNvPr id="6" name="Text 3"/>
          <p:cNvSpPr/>
          <p:nvPr/>
        </p:nvSpPr>
        <p:spPr>
          <a:xfrm>
            <a:off x="96012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State flow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2688" y="2084832"/>
            <a:ext cx="1874520" cy="438912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32688" y="26151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tap / type / upload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3355848" y="2084832"/>
            <a:ext cx="1874520" cy="438912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ViewModel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55848" y="26151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validate + launch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32688" y="3291840"/>
            <a:ext cx="1874520" cy="438912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DAO / DataStore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38221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persist locally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3355848" y="3291840"/>
            <a:ext cx="1874520" cy="438912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Flow collect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55848" y="38221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</a:rPr>
              <a:t>recompose UI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852928" y="2304288"/>
            <a:ext cx="530352" cy="0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3"/>
          <p:cNvSpPr/>
          <p:nvPr/>
        </p:nvSpPr>
        <p:spPr>
          <a:xfrm>
            <a:off x="4297680" y="2743200"/>
            <a:ext cx="0" cy="512064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4"/>
          <p:cNvSpPr/>
          <p:nvPr/>
        </p:nvSpPr>
        <p:spPr>
          <a:xfrm>
            <a:off x="3383280" y="3657600"/>
            <a:ext cx="0" cy="0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5"/>
          <p:cNvSpPr/>
          <p:nvPr/>
        </p:nvSpPr>
        <p:spPr>
          <a:xfrm>
            <a:off x="932688" y="3429000"/>
            <a:ext cx="0" cy="0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6"/>
          <p:cNvSpPr/>
          <p:nvPr/>
        </p:nvSpPr>
        <p:spPr>
          <a:xfrm>
            <a:off x="960120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Example: saving a symptom check immediately updates History; changing theme updates Settings.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82512" y="12344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667512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Navigation flow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20840" y="2011680"/>
            <a:ext cx="960120" cy="329184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Home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02752" y="2011680"/>
            <a:ext cx="960120" cy="329184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Body3D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921240" y="2011680"/>
            <a:ext cx="960120" cy="329184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Detail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75320" y="3273552"/>
            <a:ext cx="1005840" cy="329184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Follow-up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912096" y="3273552"/>
            <a:ext cx="1051560" cy="329184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60920" y="4526280"/>
            <a:ext cx="960120" cy="329184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189720" y="4526280"/>
            <a:ext cx="960120" cy="329184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661904" y="4526280"/>
            <a:ext cx="868680" cy="329184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Settings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699248" y="2176272"/>
            <a:ext cx="603504" cy="0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8"/>
          <p:cNvSpPr/>
          <p:nvPr/>
        </p:nvSpPr>
        <p:spPr>
          <a:xfrm>
            <a:off x="9281160" y="2176272"/>
            <a:ext cx="640080" cy="0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2" name="Shape 29"/>
          <p:cNvSpPr/>
          <p:nvPr/>
        </p:nvSpPr>
        <p:spPr>
          <a:xfrm flipH="1">
            <a:off x="8787161" y="2340864"/>
            <a:ext cx="1655287" cy="923541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3" name="Shape 30"/>
          <p:cNvSpPr/>
          <p:nvPr/>
        </p:nvSpPr>
        <p:spPr>
          <a:xfrm>
            <a:off x="9281160" y="3438144"/>
            <a:ext cx="630936" cy="0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32"/>
          <p:cNvSpPr/>
          <p:nvPr/>
        </p:nvSpPr>
        <p:spPr>
          <a:xfrm flipH="1">
            <a:off x="9690410" y="3602735"/>
            <a:ext cx="752483" cy="896107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6" name="Shape 33"/>
          <p:cNvSpPr/>
          <p:nvPr/>
        </p:nvSpPr>
        <p:spPr>
          <a:xfrm flipH="1">
            <a:off x="7783552" y="3611882"/>
            <a:ext cx="2658895" cy="914382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5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6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flows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88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Diagram: Database Schemas + Persistence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Room handles structured local records, DataStore keeps preferences, and Firebase supports remote family sharing.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6072" y="1289304"/>
            <a:ext cx="11109960" cy="4882896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932688" y="14813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Local Room schema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2688" y="1901952"/>
            <a:ext cx="1170432" cy="292608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SelfProfile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2274297" y="1865375"/>
            <a:ext cx="118872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name, age, sex, conditions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02152" y="1915668"/>
            <a:ext cx="1209567" cy="292608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FamilyMember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4824740" y="1865375"/>
            <a:ext cx="118872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id, name, relation, profile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2468880"/>
            <a:ext cx="1170432" cy="292608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SavedCheckRecord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2274297" y="2432303"/>
            <a:ext cx="118872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symptom, pain, questions, assessment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02152" y="2481406"/>
            <a:ext cx="1212126" cy="285241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ImportedMedicalRecord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4824740" y="2432303"/>
            <a:ext cx="118872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image/manual note, summary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" y="3035808"/>
            <a:ext cx="1170432" cy="292608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AppSettings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2274297" y="2999231"/>
            <a:ext cx="118872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dark mode, notifications, accent theme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43846" y="2999231"/>
            <a:ext cx="1170432" cy="292608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DailyHealthTip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4824740" y="2999231"/>
            <a:ext cx="118872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person id, content, timestamp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" y="3602736"/>
            <a:ext cx="1170432" cy="292608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</a:rPr>
              <a:t>CheckupSuggestion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2274297" y="3566159"/>
            <a:ext cx="118872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person id, due date, reason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Entity mappers keep DB models separated from UI models.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46520" y="1536192"/>
            <a:ext cx="2148840" cy="1481328"/>
          </a:xfrm>
          <a:prstGeom prst="roundRect">
            <a:avLst>
              <a:gd name="adj" fmla="val 4938"/>
            </a:avLst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1"/>
          <p:cNvSpPr/>
          <p:nvPr/>
        </p:nvSpPr>
        <p:spPr>
          <a:xfrm>
            <a:off x="6693408" y="1801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DataStore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48272" y="21396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selected patient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dark mode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accent theme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8924544" y="1536192"/>
            <a:ext cx="2487168" cy="1481328"/>
          </a:xfrm>
          <a:prstGeom prst="roundRect">
            <a:avLst>
              <a:gd name="adj" fmla="val 4938"/>
            </a:avLst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4"/>
          <p:cNvSpPr/>
          <p:nvPr/>
        </p:nvSpPr>
        <p:spPr>
          <a:xfrm>
            <a:off x="9464040" y="1801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Firebase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390888" y="213969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Auth account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remote family hub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4B5563"/>
                </a:solidFill>
              </a:rPr>
              <a:t>• cloud sharing path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5650992" y="2331720"/>
            <a:ext cx="795528" cy="0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7"/>
          <p:cNvSpPr/>
          <p:nvPr/>
        </p:nvSpPr>
        <p:spPr>
          <a:xfrm>
            <a:off x="8595360" y="2331720"/>
            <a:ext cx="329184" cy="0"/>
          </a:xfrm>
          <a:prstGeom prst="line">
            <a:avLst/>
          </a:prstGeom>
          <a:noFill/>
          <a:ln w="1524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pic>
        <p:nvPicPr>
          <p:cNvPr id="31" name="Image 1" descr="/mnt/data/extracted_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585" y="3171191"/>
            <a:ext cx="1003827" cy="207746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864585" y="53218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History</a:t>
            </a:r>
            <a:endParaRPr lang="en-US" sz="850" dirty="0"/>
          </a:p>
        </p:txBody>
      </p:sp>
      <p:pic>
        <p:nvPicPr>
          <p:cNvPr id="33" name="Image 2" descr="/mnt/data/extracted_media/imag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163824"/>
            <a:ext cx="1003827" cy="207746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503920" y="53218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Profile</a:t>
            </a:r>
            <a:endParaRPr lang="en-US" sz="850" dirty="0"/>
          </a:p>
        </p:txBody>
      </p:sp>
      <p:pic>
        <p:nvPicPr>
          <p:cNvPr id="35" name="Image 3" descr="/mnt/data/extracted_media/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8965" y="3216912"/>
            <a:ext cx="1003827" cy="20774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310818" y="5299769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7085"/>
                </a:solidFill>
              </a:rPr>
              <a:t>Settings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080760" y="5577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Persistence evidence: profile, family, records, history, and app settings survive screen changes and app restart.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3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database schema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List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246120" cy="473659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868680" y="1508760"/>
            <a:ext cx="2697480" cy="310896"/>
          </a:xfrm>
          <a:prstGeom prst="roundRect">
            <a:avLst/>
          </a:prstGeom>
          <a:solidFill>
            <a:srgbClr val="4CB879"/>
          </a:solidFill>
          <a:ln>
            <a:solidFill>
              <a:srgbClr val="4CB879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Ready in demo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86968" y="2103120"/>
            <a:ext cx="201168" cy="20116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5"/>
          <p:cNvSpPr/>
          <p:nvPr/>
        </p:nvSpPr>
        <p:spPr>
          <a:xfrm>
            <a:off x="1216152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Home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16152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hero actions, tips, emergency access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86968" y="2907792"/>
            <a:ext cx="201168" cy="20116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8"/>
          <p:cNvSpPr/>
          <p:nvPr/>
        </p:nvSpPr>
        <p:spPr>
          <a:xfrm>
            <a:off x="1216152" y="2862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3D symptom check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6152" y="3136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model, hotspots, pain slider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86968" y="3712464"/>
            <a:ext cx="201168" cy="20116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1216152" y="3666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Follow-up + assessment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16152" y="3941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Gemini-backed with fallback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86968" y="4517136"/>
            <a:ext cx="201168" cy="20116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4"/>
          <p:cNvSpPr/>
          <p:nvPr/>
        </p:nvSpPr>
        <p:spPr>
          <a:xfrm>
            <a:off x="1216152" y="4471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History archive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216152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saved checks and imported records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4187952" y="1234440"/>
            <a:ext cx="3246120" cy="473659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Text 17"/>
          <p:cNvSpPr/>
          <p:nvPr/>
        </p:nvSpPr>
        <p:spPr>
          <a:xfrm>
            <a:off x="4462272" y="1508760"/>
            <a:ext cx="2697480" cy="310896"/>
          </a:xfrm>
          <a:prstGeom prst="roundRect">
            <a:avLst/>
          </a:prstGeom>
          <a:solidFill>
            <a:srgbClr val="5B8DEF"/>
          </a:solidFill>
          <a:ln>
            <a:solidFill>
              <a:srgbClr val="5B8DE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Implemented / integration-ready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80560" y="2103120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19"/>
          <p:cNvSpPr/>
          <p:nvPr/>
        </p:nvSpPr>
        <p:spPr>
          <a:xfrm>
            <a:off x="4809744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Map search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9744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embedded map + near-me query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4480560" y="2907792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2"/>
          <p:cNvSpPr/>
          <p:nvPr/>
        </p:nvSpPr>
        <p:spPr>
          <a:xfrm>
            <a:off x="4809744" y="2862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Settings + profile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09744" y="3136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theme, selected patient, preferences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4480560" y="3712464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5"/>
          <p:cNvSpPr/>
          <p:nvPr/>
        </p:nvSpPr>
        <p:spPr>
          <a:xfrm>
            <a:off x="4809744" y="3666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Family Hub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9744" y="39410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remote family data started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480560" y="4517136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8"/>
          <p:cNvSpPr/>
          <p:nvPr/>
        </p:nvSpPr>
        <p:spPr>
          <a:xfrm>
            <a:off x="4809744" y="44714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Camera / gallery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09744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</a:rPr>
              <a:t>medical record upload path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90688" y="1234440"/>
            <a:ext cx="3246120" cy="473659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4" name="Text 31"/>
          <p:cNvSpPr/>
          <p:nvPr/>
        </p:nvSpPr>
        <p:spPr>
          <a:xfrm>
            <a:off x="8065008" y="1508760"/>
            <a:ext cx="2697480" cy="310896"/>
          </a:xfrm>
          <a:prstGeom prst="roundRect">
            <a:avLst/>
          </a:prstGeom>
          <a:solidFill>
            <a:srgbClr val="F39A2E"/>
          </a:solidFill>
          <a:ln>
            <a:solidFill>
              <a:srgbClr val="F39A2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Progress / descoped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083296" y="2103120"/>
            <a:ext cx="201168" cy="201168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9" name="Text 36"/>
          <p:cNvSpPr/>
          <p:nvPr/>
        </p:nvSpPr>
        <p:spPr>
          <a:xfrm>
            <a:off x="8412480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Remote sync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412480" y="2332189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/>
              <a:t>Fix the family hub</a:t>
            </a:r>
          </a:p>
        </p:txBody>
      </p:sp>
      <p:sp>
        <p:nvSpPr>
          <p:cNvPr id="41" name="Shape 38"/>
          <p:cNvSpPr/>
          <p:nvPr/>
        </p:nvSpPr>
        <p:spPr>
          <a:xfrm>
            <a:off x="8055864" y="2807208"/>
            <a:ext cx="201168" cy="201168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39"/>
          <p:cNvSpPr/>
          <p:nvPr/>
        </p:nvSpPr>
        <p:spPr>
          <a:xfrm>
            <a:off x="8412480" y="2742730"/>
            <a:ext cx="2350008" cy="39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</a:t>
            </a:r>
            <a:r>
              <a:rPr lang="en-US" altLang="zh-CN" sz="1200" b="1" dirty="0">
                <a:solidFill>
                  <a:srgbClr val="111827"/>
                </a:solidFill>
              </a:rPr>
              <a:t>oint adjustment for the 3D body model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45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feature status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06</a:t>
            </a:r>
            <a:endParaRPr lang="en-US" sz="800" dirty="0"/>
          </a:p>
        </p:txBody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B53293A7-8909-005C-B607-7FCAD4E0C9EB}"/>
              </a:ext>
            </a:extLst>
          </p:cNvPr>
          <p:cNvSpPr/>
          <p:nvPr/>
        </p:nvSpPr>
        <p:spPr>
          <a:xfrm>
            <a:off x="8055864" y="3542831"/>
            <a:ext cx="201168" cy="201168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39">
            <a:extLst>
              <a:ext uri="{FF2B5EF4-FFF2-40B4-BE49-F238E27FC236}">
                <a16:creationId xmlns:a16="http://schemas.microsoft.com/office/drawing/2014/main" id="{79760961-2B7F-BCD6-BF9D-6411526BCF5F}"/>
              </a:ext>
            </a:extLst>
          </p:cNvPr>
          <p:cNvSpPr/>
          <p:nvPr/>
        </p:nvSpPr>
        <p:spPr>
          <a:xfrm>
            <a:off x="8412480" y="3365695"/>
            <a:ext cx="2194560" cy="54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Have the App work without WIFI connection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18288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&amp; Testing Strategy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822960" y="1627632"/>
            <a:ext cx="402336" cy="40233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822960" y="17099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44168" y="16276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Build + compile checks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3544" y="248716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Run Gradle build after module changes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Fix imports, route params, Room entity issues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Keep UI code compiling before adding features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74720" y="132588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8"/>
          <p:cNvSpPr/>
          <p:nvPr/>
        </p:nvSpPr>
        <p:spPr>
          <a:xfrm>
            <a:off x="3703320" y="1627632"/>
            <a:ext cx="402336" cy="402336"/>
          </a:xfrm>
          <a:prstGeom prst="ellipse">
            <a:avLst/>
          </a:prstGeom>
          <a:solidFill>
            <a:srgbClr val="7559F3"/>
          </a:solidFill>
          <a:ln w="12700">
            <a:solidFill>
              <a:srgbClr val="7559F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3703320" y="17099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224528" y="16276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Manual flow tests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03904" y="248716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Home → Body3D → Detail → Follow-up → Assessment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Save assessment and verify History updates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Switch settings and verify preference persistence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55080" y="132588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3"/>
          <p:cNvSpPr/>
          <p:nvPr/>
        </p:nvSpPr>
        <p:spPr>
          <a:xfrm>
            <a:off x="6583680" y="1627632"/>
            <a:ext cx="402336" cy="402336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4"/>
          <p:cNvSpPr/>
          <p:nvPr/>
        </p:nvSpPr>
        <p:spPr>
          <a:xfrm>
            <a:off x="6583680" y="17099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04888" y="16276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Integration tests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84264" y="248716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Gemini request + fallback behavior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Firebase auth/family data behavior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Map query opens relevant near-me search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235440" y="1325880"/>
            <a:ext cx="256032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1" name="Shape 18"/>
          <p:cNvSpPr/>
          <p:nvPr/>
        </p:nvSpPr>
        <p:spPr>
          <a:xfrm>
            <a:off x="9464040" y="1627632"/>
            <a:ext cx="402336" cy="402336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19"/>
          <p:cNvSpPr/>
          <p:nvPr/>
        </p:nvSpPr>
        <p:spPr>
          <a:xfrm>
            <a:off x="9464040" y="17099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985248" y="16276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Safety + edge cases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564624" y="248716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Emergency mode does not enter wrong account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Empty API output still shows safe content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</a:rPr>
              <a:t>• Permissions fail gracefully for voice/camera/location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5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testing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Organization, Commits, and Code Quality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58368" y="1234440"/>
            <a:ext cx="4754880" cy="4846320"/>
          </a:xfrm>
          <a:prstGeom prst="roundRect">
            <a:avLst>
              <a:gd name="adj" fmla="val 15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960120" y="1536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 structure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1901952"/>
            <a:ext cx="42519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app/src/main/java/...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CareRouteViewModel.kt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AuthViewModel.kt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GeminiRepository.kt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local/ Room entities + DAO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data/remote/ Firebase repositories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navigation/ AppNav.kt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network/ GeminiApiService.kt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ui/ Compose screens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ui/theme/ Material theme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440" y="126187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Shape 6"/>
          <p:cNvSpPr/>
          <p:nvPr/>
        </p:nvSpPr>
        <p:spPr>
          <a:xfrm>
            <a:off x="6108192" y="1572768"/>
            <a:ext cx="310896" cy="3108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6565392" y="1463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Commit evidence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65392" y="17922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Visible commits by each member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Bug fixes, UI updates, database work, API work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2834640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0"/>
          <p:cNvSpPr/>
          <p:nvPr/>
        </p:nvSpPr>
        <p:spPr>
          <a:xfrm>
            <a:off x="6108192" y="3145536"/>
            <a:ext cx="310896" cy="310896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6565392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Code quality signals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65392" y="33649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MVVM separation and repositories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Coroutines with viewModelScope / Dispatchers.IO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Fallbacks for API and runtime failure paths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4407408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4"/>
          <p:cNvSpPr/>
          <p:nvPr/>
        </p:nvSpPr>
        <p:spPr>
          <a:xfrm>
            <a:off x="6108192" y="4718304"/>
            <a:ext cx="310896" cy="310896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5"/>
          <p:cNvSpPr/>
          <p:nvPr/>
        </p:nvSpPr>
        <p:spPr>
          <a:xfrm>
            <a:off x="656539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Documentation to add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65392" y="49377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README feature status 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docs/ARCHITECTURE.md and docs/TESTING.md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• docs/AI_USAGE.md with examples and limitations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repository quality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Repository Updates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261872"/>
            <a:ext cx="10972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1051560" y="1600200"/>
            <a:ext cx="2240280" cy="329184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README.md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566160" y="165506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project overview, demo flow, feature status, setup steps, screenshots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76272" y="1956816"/>
            <a:ext cx="0" cy="338328"/>
          </a:xfrm>
          <a:prstGeom prst="line">
            <a:avLst/>
          </a:prstGeom>
          <a:noFill/>
          <a:ln w="10160">
            <a:solidFill>
              <a:srgbClr val="D0D7E3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6"/>
          <p:cNvSpPr/>
          <p:nvPr/>
        </p:nvSpPr>
        <p:spPr>
          <a:xfrm>
            <a:off x="1051560" y="2386584"/>
            <a:ext cx="2240280" cy="329184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docs/ARCHITECTURE.md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566160" y="24414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MVVM diagram, dependencies, state flow, navigation flow, database schema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76272" y="2743200"/>
            <a:ext cx="0" cy="338328"/>
          </a:xfrm>
          <a:prstGeom prst="line">
            <a:avLst/>
          </a:prstGeom>
          <a:noFill/>
          <a:ln w="10160">
            <a:solidFill>
              <a:srgbClr val="D0D7E3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1051560" y="3172968"/>
            <a:ext cx="2240280" cy="329184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docs/TESTING.md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66160" y="3227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debugging log, manual test matrix, integration tests, known issues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76272" y="3529584"/>
            <a:ext cx="0" cy="338328"/>
          </a:xfrm>
          <a:prstGeom prst="line">
            <a:avLst/>
          </a:prstGeom>
          <a:noFill/>
          <a:ln w="10160">
            <a:solidFill>
              <a:srgbClr val="D0D7E3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2"/>
          <p:cNvSpPr/>
          <p:nvPr/>
        </p:nvSpPr>
        <p:spPr>
          <a:xfrm>
            <a:off x="1051560" y="3959352"/>
            <a:ext cx="2240280" cy="329184"/>
          </a:xfrm>
          <a:prstGeom prst="roundRect">
            <a:avLst/>
          </a:prstGeom>
          <a:solidFill>
            <a:srgbClr val="F39A2E"/>
          </a:solidFill>
          <a:ln w="10160">
            <a:solidFill>
              <a:srgbClr val="F39A2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docs/AI_USAGE.md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566160" y="40142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tools used, where/how used, prompts, limits, corrections, final understanding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176272" y="4315968"/>
            <a:ext cx="0" cy="338328"/>
          </a:xfrm>
          <a:prstGeom prst="line">
            <a:avLst/>
          </a:prstGeom>
          <a:noFill/>
          <a:ln w="10160">
            <a:solidFill>
              <a:srgbClr val="D0D7E3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5"/>
          <p:cNvSpPr/>
          <p:nvPr/>
        </p:nvSpPr>
        <p:spPr>
          <a:xfrm>
            <a:off x="1051560" y="4745736"/>
            <a:ext cx="2240280" cy="329184"/>
          </a:xfrm>
          <a:prstGeom prst="roundRect">
            <a:avLst/>
          </a:prstGeom>
          <a:solidFill>
            <a:srgbClr val="EF6C6C"/>
          </a:solidFill>
          <a:ln w="10160">
            <a:solidFill>
              <a:srgbClr val="EF6C6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docs/CONTRIBUTIONS.md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566160" y="4800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team workflow, ownership, commits, integration responsibilities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GitHub updates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657FA-8ED8-57DF-EBAA-0605B254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>
            <a:extLst>
              <a:ext uri="{FF2B5EF4-FFF2-40B4-BE49-F238E27FC236}">
                <a16:creationId xmlns:a16="http://schemas.microsoft.com/office/drawing/2014/main" id="{A73A5EBA-3124-6C34-2777-65A85ACEF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" name="Shape 17">
            <a:extLst>
              <a:ext uri="{FF2B5EF4-FFF2-40B4-BE49-F238E27FC236}">
                <a16:creationId xmlns:a16="http://schemas.microsoft.com/office/drawing/2014/main" id="{6957D913-2CE4-1DCC-595D-4E3BBD59FDFA}"/>
              </a:ext>
            </a:extLst>
          </p:cNvPr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7F5B16D-0C82-0E9C-C5BA-3E201D8228A9}"/>
              </a:ext>
            </a:extLst>
          </p:cNvPr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0BA534-D5FF-2152-7857-53A010CA6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328" y="749205"/>
            <a:ext cx="8575343" cy="535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03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Workflow Breakdown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Work was split by ownership area, then merged into the final demo path and cleaned up through debugging.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3"/>
          <p:cNvSpPr/>
          <p:nvPr/>
        </p:nvSpPr>
        <p:spPr>
          <a:xfrm>
            <a:off x="822960" y="1536192"/>
            <a:ext cx="438912" cy="438912"/>
          </a:xfrm>
          <a:prstGeom prst="roundRect">
            <a:avLst/>
          </a:prstGeom>
          <a:solidFill>
            <a:srgbClr val="5B8D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Z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80744" y="1490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Zhi Gao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0744" y="1783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5B8DEF"/>
                </a:solidFill>
              </a:rPr>
              <a:t>Architecture · local data · docs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6968" y="2267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Built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6968" y="254203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Home / History / Map / Setting navigation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ViewModel, Room, DataStore, local records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README/presentation cleanup and final integration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41879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Fixed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86968" y="4462272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History compile/import issues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navigation parameter mismatch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merge cleanup and demo story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34840" y="123444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Text 11"/>
          <p:cNvSpPr/>
          <p:nvPr/>
        </p:nvSpPr>
        <p:spPr>
          <a:xfrm>
            <a:off x="4663440" y="1536192"/>
            <a:ext cx="438912" cy="438912"/>
          </a:xfrm>
          <a:prstGeom prst="roundRect">
            <a:avLst/>
          </a:prstGeom>
          <a:solidFill>
            <a:srgbClr val="4CB8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J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221224" y="1490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Jiahao Hu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21224" y="1783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4CB879"/>
                </a:solidFill>
              </a:rPr>
              <a:t>Remote DB · auth · API/input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27448" y="2267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Built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727448" y="254203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Firebase remote database for Sign in / Family 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Gemini and Google Map API feature work and voice input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password reset + view password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27448" y="41879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Fixed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27448" y="4462272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local/remote database behavior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emergency mode account bug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sign-in flow polish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75320" y="123444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Text 19"/>
          <p:cNvSpPr/>
          <p:nvPr/>
        </p:nvSpPr>
        <p:spPr>
          <a:xfrm>
            <a:off x="8503920" y="1536192"/>
            <a:ext cx="438912" cy="438912"/>
          </a:xfrm>
          <a:prstGeom prst="roundRect">
            <a:avLst/>
          </a:prstGeom>
          <a:solidFill>
            <a:srgbClr val="7559F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W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061704" y="1490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Wenhao Wang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61704" y="1783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7559F3"/>
                </a:solidFill>
              </a:rPr>
              <a:t>3D body · map visuals · UI polish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67928" y="2267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Built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567928" y="2542032"/>
            <a:ext cx="2788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3D body model screen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map screen updates for nearby care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567928" y="41879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Fixed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567928" y="4462272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body position and overlay problems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visual shadows and final 3D polish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map UI balance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7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team workflow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Usage Statement: Tools, Workflow, and Prompts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AI supported development and communication, but final code, safety decisions, and testing were handled by the team.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915860" y="1423591"/>
            <a:ext cx="1417320" cy="384048"/>
          </a:xfrm>
          <a:prstGeom prst="roundRect">
            <a:avLst/>
          </a:prstGeom>
          <a:solidFill>
            <a:srgbClr val="5B8DEF"/>
          </a:solidFill>
          <a:ln w="10160">
            <a:solidFill>
              <a:srgbClr val="5B8D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Ask GPT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879284" y="1908222"/>
            <a:ext cx="1508760" cy="5112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debug ideas · UI wording · README 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60612" y="1615615"/>
            <a:ext cx="694944" cy="0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5"/>
          <p:cNvSpPr/>
          <p:nvPr/>
        </p:nvSpPr>
        <p:spPr>
          <a:xfrm>
            <a:off x="5183572" y="1423591"/>
            <a:ext cx="1417320" cy="384048"/>
          </a:xfrm>
          <a:prstGeom prst="roundRect">
            <a:avLst/>
          </a:prstGeom>
          <a:solidFill>
            <a:srgbClr val="7559F3"/>
          </a:solidFill>
          <a:ln w="10160">
            <a:solidFill>
              <a:srgbClr val="7559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Team filter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55224" y="1977993"/>
            <a:ext cx="1767841" cy="3717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choose what fits · reject unsafe wording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28324" y="1615615"/>
            <a:ext cx="694944" cy="0"/>
          </a:xfrm>
          <a:prstGeom prst="line">
            <a:avLst/>
          </a:prstGeom>
          <a:noFill/>
          <a:ln w="12700">
            <a:solidFill>
              <a:srgbClr val="A5B4CC"/>
            </a:solidFill>
            <a:prstDash val="solid"/>
            <a:tailEnd type="triangle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8"/>
          <p:cNvSpPr/>
          <p:nvPr/>
        </p:nvSpPr>
        <p:spPr>
          <a:xfrm>
            <a:off x="7451284" y="1423591"/>
            <a:ext cx="1417320" cy="384048"/>
          </a:xfrm>
          <a:prstGeom prst="roundRect">
            <a:avLst/>
          </a:prstGeom>
          <a:solidFill>
            <a:srgbClr val="4CB879"/>
          </a:solidFill>
          <a:ln w="10160">
            <a:solidFill>
              <a:srgbClr val="4CB87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Implement + test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14708" y="1908222"/>
            <a:ext cx="1508760" cy="44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edit real files · run build · fix errors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901952" y="2724912"/>
            <a:ext cx="331012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7"/>
          <p:cNvSpPr/>
          <p:nvPr/>
        </p:nvSpPr>
        <p:spPr>
          <a:xfrm>
            <a:off x="2157984" y="2962656"/>
            <a:ext cx="310896" cy="310896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2587752" y="29260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GPT during development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249424" y="3401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B5563"/>
                </a:solidFill>
              </a:rPr>
              <a:t>Used for explaining Compose / ViewModel / Room / Firebase errors, brainstorming UI wording, README sections, presentation phrasing, and possible professor questions.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2194560" y="4224528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1"/>
          <p:cNvSpPr/>
          <p:nvPr/>
        </p:nvSpPr>
        <p:spPr>
          <a:xfrm>
            <a:off x="2340864" y="440740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Example prompt: "Why does this Compose screen not update after a Room Flow change? Explain the likely causes step by step."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7064425" y="2691205"/>
            <a:ext cx="331012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29"/>
          <p:cNvSpPr/>
          <p:nvPr/>
        </p:nvSpPr>
        <p:spPr>
          <a:xfrm>
            <a:off x="7320457" y="2928949"/>
            <a:ext cx="310896" cy="310896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0"/>
          <p:cNvSpPr/>
          <p:nvPr/>
        </p:nvSpPr>
        <p:spPr>
          <a:xfrm>
            <a:off x="7750225" y="2892373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How the team used it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411897" y="3367861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B5563"/>
                </a:solidFill>
              </a:rPr>
              <a:t>AI output was treated as a draft. We reviewed wording, changed code to fit our project, compiled it, tested flows, and kept fallback text for failure cases.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7357033" y="4190821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6" name="Text 33"/>
          <p:cNvSpPr/>
          <p:nvPr/>
        </p:nvSpPr>
        <p:spPr>
          <a:xfrm>
            <a:off x="7503337" y="4373701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Example prompt: "Rewrite this assessment so it avoids diagnosis, dosage, and overconfident medical language."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Text 35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AI usage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cted_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Usage Statement: Helpfulness, Limits, Corrections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49808" y="132588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1024128" y="1600200"/>
            <a:ext cx="384048" cy="384048"/>
          </a:xfrm>
          <a:prstGeom prst="ellipse">
            <a:avLst/>
          </a:prstGeom>
          <a:solidFill>
            <a:srgbClr val="4CB879"/>
          </a:solidFill>
          <a:ln w="12700">
            <a:solidFill>
              <a:srgbClr val="4CB87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1527048" y="1627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What helped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Faster debugging direction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Clearer explanations of framework errors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Better README and slide wording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More edge cases to test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98848" y="132588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7"/>
          <p:cNvSpPr/>
          <p:nvPr/>
        </p:nvSpPr>
        <p:spPr>
          <a:xfrm>
            <a:off x="4773168" y="1600200"/>
            <a:ext cx="384048" cy="384048"/>
          </a:xfrm>
          <a:prstGeom prst="ellipse">
            <a:avLst/>
          </a:prstGeom>
          <a:solidFill>
            <a:srgbClr val="F39A2E"/>
          </a:solidFill>
          <a:ln w="12700">
            <a:solidFill>
              <a:srgbClr val="F39A2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8"/>
          <p:cNvSpPr/>
          <p:nvPr/>
        </p:nvSpPr>
        <p:spPr>
          <a:xfrm>
            <a:off x="5276088" y="1627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Limitations we saw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224028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Sometimes suggested code did not fit our files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Could hallucinate APIs or imports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Medical wording could be too strong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Layout suggestions still needed manual testing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47888" y="1325880"/>
            <a:ext cx="32918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5400" dist="50800" dir="2700000" algn="bl" rotWithShape="0">
              <a:srgbClr val="C7D1E1">
                <a:alpha val="18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Shape 11"/>
          <p:cNvSpPr/>
          <p:nvPr/>
        </p:nvSpPr>
        <p:spPr>
          <a:xfrm>
            <a:off x="8522208" y="1600200"/>
            <a:ext cx="384048" cy="384048"/>
          </a:xfrm>
          <a:prstGeom prst="ellipse">
            <a:avLst/>
          </a:prstGeom>
          <a:solidFill>
            <a:srgbClr val="EF6C6C"/>
          </a:solidFill>
          <a:ln w="12700">
            <a:solidFill>
              <a:srgbClr val="EF6C6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2"/>
          <p:cNvSpPr/>
          <p:nvPr/>
        </p:nvSpPr>
        <p:spPr>
          <a:xfrm>
            <a:off x="9025128" y="1627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Corrections we made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95360" y="224028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Compiled and edited every code change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Removed diagnosis / dosage language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Added safe fallback responses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Kept API keys outside 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</a:rPr>
              <a:t>• Tested emergency and account behavior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8912" y="6565392"/>
            <a:ext cx="11384280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8"/>
          <p:cNvSpPr/>
          <p:nvPr/>
        </p:nvSpPr>
        <p:spPr>
          <a:xfrm>
            <a:off x="438912" y="66111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CareRoute · CS501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212080" y="6611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AI analysis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475720" y="66111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1469</Words>
  <Application>Microsoft Macintosh PowerPoint</Application>
  <PresentationFormat>Widescreen</PresentationFormat>
  <Paragraphs>295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CareRoute CS501 Updated Presentation</dc:title>
  <dc:subject>CS501 updated presentation requirements</dc:subject>
  <dc:creator>CareRoute Team</dc:creator>
  <cp:lastModifiedBy>Hu, Tony</cp:lastModifiedBy>
  <cp:revision>3</cp:revision>
  <dcterms:created xsi:type="dcterms:W3CDTF">2026-04-28T23:15:16Z</dcterms:created>
  <dcterms:modified xsi:type="dcterms:W3CDTF">2026-04-29T00:37:43Z</dcterms:modified>
</cp:coreProperties>
</file>